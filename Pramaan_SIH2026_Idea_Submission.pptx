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102A5E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F172A"/>
                </a:solidFill>
              </a:defRPr>
            </a:pPr>
            <a:r>
              <a:t>TITLE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7315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rIns="274320"/>
          <a:lstStyle/>
          <a:p>
            <a:pPr algn="ctr">
              <a:spcAft>
                <a:spcPts val="1200"/>
              </a:spcAft>
            </a:pPr>
            <a:r>
              <a:rPr b="1" sz="1500">
                <a:solidFill>
                  <a:srgbClr val="0F172A"/>
                </a:solidFill>
              </a:rPr>
              <a:t>• Problem Statement ID – </a:t>
            </a:r>
            <a:r>
              <a:rPr b="1" sz="1400">
                <a:solidFill>
                  <a:srgbClr val="102A5E"/>
                </a:solidFill>
              </a:rPr>
              <a:t>SIH26034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F172A"/>
                </a:solidFill>
              </a:rPr>
              <a:t>• Problem Statement Title – </a:t>
            </a:r>
            <a:r>
              <a:rPr b="0" sz="1400">
                <a:solidFill>
                  <a:srgbClr val="334155"/>
                </a:solidFill>
              </a:rPr>
              <a:t>AI-Powered Automated Inspection &amp; Enforcement System for Legal Metrology (Packaged Commodities) Rules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F172A"/>
                </a:solidFill>
              </a:rPr>
              <a:t>• Theme – </a:t>
            </a:r>
            <a:r>
              <a:rPr b="0" sz="1400">
                <a:solidFill>
                  <a:srgbClr val="334155"/>
                </a:solidFill>
              </a:rPr>
              <a:t>Smart Automation / Regulatory Technology &amp; Governance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F172A"/>
                </a:solidFill>
              </a:rPr>
              <a:t>• PS Category – </a:t>
            </a:r>
            <a:r>
              <a:rPr b="0" sz="1400">
                <a:solidFill>
                  <a:srgbClr val="334155"/>
                </a:solidFill>
              </a:rPr>
              <a:t>Software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F172A"/>
                </a:solidFill>
              </a:rPr>
              <a:t>• Team ID – </a:t>
            </a:r>
            <a:r>
              <a:rPr b="0" sz="1400">
                <a:solidFill>
                  <a:srgbClr val="334155"/>
                </a:solidFill>
              </a:rPr>
              <a:t>[Registered Portal Team ID]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F172A"/>
                </a:solidFill>
              </a:rPr>
              <a:t>• Team Name (Registered on portal) – </a:t>
            </a:r>
            <a:r>
              <a:rPr b="1" sz="1400">
                <a:solidFill>
                  <a:srgbClr val="102A5E"/>
                </a:solidFill>
              </a:rPr>
              <a:t>The Null Pointers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828800"/>
            <a:ext cx="320040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457200"/>
          <a:lstStyle/>
          <a:p>
            <a:pPr algn="ctr">
              <a:defRPr b="1" sz="2800">
                <a:solidFill>
                  <a:srgbClr val="F59E0B"/>
                </a:solidFill>
              </a:defRPr>
            </a:pPr>
            <a:r>
              <a:t>PRAMAAN</a:t>
            </a:r>
          </a:p>
          <a:p>
            <a:pPr algn="ctr">
              <a:spcAft>
                <a:spcPts val="1600"/>
              </a:spcAft>
              <a:defRPr b="1" sz="2000">
                <a:solidFill>
                  <a:srgbClr val="FFFFFF"/>
                </a:solidFill>
              </a:defRPr>
            </a:pPr>
            <a:r>
              <a:t>(प्रमाण)</a:t>
            </a:r>
          </a:p>
          <a:p>
            <a:pPr algn="ctr">
              <a:spcAft>
                <a:spcPts val="1600"/>
              </a:spcAft>
              <a:defRPr sz="1200">
                <a:solidFill>
                  <a:srgbClr val="E2E8F0"/>
                </a:solidFill>
              </a:defRPr>
            </a:pPr>
            <a:r>
              <a:t>National Legal Metrology Compliance &amp; Regulatory Surveillance Operating System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✔ EAN-13 Optical Metrology (±0.1mm)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✔ Rule 7(2) &amp; Rule 6 Codified Rules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✔ Section 65B Admissible PDF Notices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✔ 24/7 E-Commerce Surveillance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✔ Accelerometer Jitter Guard (&lt;0.18g)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74320"/>
            <a:ext cx="137160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The Null</a:t>
            </a:r>
          </a:p>
          <a:p>
            <a:pPr algn="ctr">
              <a:defRPr b="1" sz="1100">
                <a:solidFill>
                  <a:srgbClr val="0F172A"/>
                </a:solidFill>
              </a:defRPr>
            </a:pPr>
            <a:r>
              <a:t>Pointers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0F172A"/>
                </a:solidFill>
              </a:defRPr>
            </a:pPr>
            <a:r>
              <a:t>PRAMAAN (प्रमाण)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102A5E"/>
                </a:solidFill>
              </a:defRPr>
            </a:pPr>
            <a:r>
              <a:t>SMART INDIA</a:t>
            </a:r>
          </a:p>
          <a:p>
            <a:pPr algn="r">
              <a:defRPr b="1" sz="1200">
                <a:solidFill>
                  <a:srgbClr val="102A5E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02A5E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spcAft>
                <a:spcPts val="800"/>
              </a:spcAft>
              <a:defRPr b="1" sz="1400">
                <a:solidFill>
                  <a:srgbClr val="0F172A"/>
                </a:solidFill>
              </a:defRPr>
            </a:pPr>
            <a:r>
              <a:t>• Detailed Explanation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2A5E"/>
                </a:solidFill>
              </a:rPr>
              <a:t>Unified Regulatory OS: </a:t>
            </a:r>
            <a:r>
              <a:rPr sz="1000">
                <a:solidFill>
                  <a:srgbClr val="334155"/>
                </a:solidFill>
              </a:rPr>
              <a:t>Automates end-to-end enforcement of Legal Metrology (Packaged Commodities) Rules, 2011 across physical retail and e-commerce.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2A5E"/>
                </a:solidFill>
              </a:rPr>
              <a:t>3-Tier Architecture: </a:t>
            </a:r>
            <a:r>
              <a:rPr sz="1000">
                <a:solidFill>
                  <a:srgbClr val="334155"/>
                </a:solidFill>
              </a:rPr>
              <a:t>Mobile Field Scanner (CameraX HUD), Web Adjudication Portal (FastAPI + React), and Autonomous Market Crawler.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2A5E"/>
                </a:solidFill>
              </a:rPr>
              <a:t>Deterministic Enforcement: </a:t>
            </a:r>
            <a:r>
              <a:rPr sz="1000">
                <a:solidFill>
                  <a:srgbClr val="334155"/>
                </a:solidFill>
              </a:rPr>
              <a:t>Translates legal statutes into verifiable, mathematical logic rules — eliminating opaque black-box AI errors.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2A5E"/>
                </a:solidFill>
              </a:rPr>
              <a:t>Evidence-Grade Outputs: </a:t>
            </a:r>
            <a:r>
              <a:rPr sz="1000">
                <a:solidFill>
                  <a:srgbClr val="334155"/>
                </a:solidFill>
              </a:rPr>
              <a:t>Instantly synthesizes Section 65B Indian Evidence Act compliant PDF notices with cryptographic SHA-256 hashes.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9164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spcAft>
                <a:spcPts val="800"/>
              </a:spcAft>
              <a:defRPr b="1" sz="1400">
                <a:solidFill>
                  <a:srgbClr val="0F172A"/>
                </a:solidFill>
              </a:defRPr>
            </a:pPr>
            <a:r>
              <a:t>• How It Addresses the Problem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2A5E"/>
                </a:solidFill>
              </a:rPr>
              <a:t>Eliminates Manual Calipers: </a:t>
            </a:r>
            <a:r>
              <a:rPr sz="1000">
                <a:solidFill>
                  <a:srgbClr val="334155"/>
                </a:solidFill>
              </a:rPr>
              <a:t>Field inspectors struggle with physical rulers; Pramaan measures font heights down to ±0.1mm in &lt; 4 seconds.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2A5E"/>
                </a:solidFill>
              </a:rPr>
              <a:t>Solves Subjective Raids: </a:t>
            </a:r>
            <a:r>
              <a:rPr sz="1000">
                <a:solidFill>
                  <a:srgbClr val="334155"/>
                </a:solidFill>
              </a:rPr>
              <a:t>Replaces inspector dispute with court-admissible bounding-box image exhibits and citation logs.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2A5E"/>
                </a:solidFill>
              </a:rPr>
              <a:t>Tackles Deceptive Packaging: </a:t>
            </a:r>
            <a:r>
              <a:rPr sz="1000">
                <a:solidFill>
                  <a:srgbClr val="334155"/>
                </a:solidFill>
              </a:rPr>
              <a:t>Automatically detects non-standard sizes under Second Schedule (anti-shrinkflation enforcement).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2A5E"/>
                </a:solidFill>
              </a:rPr>
              <a:t>Overcomes E-Commerce Scale: </a:t>
            </a:r>
            <a:r>
              <a:rPr sz="1000">
                <a:solidFill>
                  <a:srgbClr val="334155"/>
                </a:solidFill>
              </a:rPr>
              <a:t>Manual review cannot monitor millions of listings; our crawler scans 10,000+ online listings daily 24/7.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2A5E"/>
                </a:solidFill>
              </a:rPr>
              <a:t>Zero False Accusations: </a:t>
            </a:r>
            <a:r>
              <a:rPr sz="1000">
                <a:solidFill>
                  <a:srgbClr val="334155"/>
                </a:solidFill>
              </a:rPr>
              <a:t>Triage gate redirects scans with &lt;85% confidence to human review queue.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47472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spcAft>
                <a:spcPts val="800"/>
              </a:spcAft>
              <a:defRPr b="1" sz="1400">
                <a:solidFill>
                  <a:srgbClr val="0F172A"/>
                </a:solidFill>
              </a:defRPr>
            </a:pPr>
            <a:r>
              <a:t>• Innovation &amp; Uniqueness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Universal Optical Ruler: </a:t>
            </a:r>
            <a:r>
              <a:rPr sz="1000">
                <a:solidFill>
                  <a:srgbClr val="334155"/>
                </a:solidFill>
              </a:rPr>
              <a:t>World-first metrology utilizing standard GS1 EAN-13 barcodes (nominal 37.29mm) as physical calibration markers.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Hardware Accelerometer Guard: </a:t>
            </a:r>
            <a:r>
              <a:rPr sz="1000">
                <a:solidFill>
                  <a:srgbClr val="334155"/>
                </a:solidFill>
              </a:rPr>
              <a:t>Integrates device motion sensors (jitter &lt; 0.18g) to mathematically prevent motion-blurred captures.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Dual-Tier Confidence Gate: </a:t>
            </a:r>
            <a:r>
              <a:rPr sz="1000">
                <a:solidFill>
                  <a:srgbClr val="334155"/>
                </a:solidFill>
              </a:rPr>
              <a:t>Automated legal notice generation for high confidence (&gt;85%); human-in-the-loop review queue for edge cases.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True Offline Resilience: </a:t>
            </a:r>
            <a:r>
              <a:rPr sz="1000">
                <a:solidFill>
                  <a:srgbClr val="334155"/>
                </a:solidFill>
              </a:rPr>
              <a:t>Encrypted local SQLite queue enables complete field raid functionality in rural/basement markets with no signal.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74320"/>
            <a:ext cx="137160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The Null</a:t>
            </a:r>
          </a:p>
          <a:p>
            <a:pPr algn="ctr">
              <a:defRPr b="1" sz="1100">
                <a:solidFill>
                  <a:srgbClr val="0F172A"/>
                </a:solidFill>
              </a:defRPr>
            </a:pPr>
            <a:r>
              <a:t>Pointers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102A5E"/>
                </a:solidFill>
              </a:defRPr>
            </a:pPr>
            <a:r>
              <a:t>SMART INDIA</a:t>
            </a:r>
          </a:p>
          <a:p>
            <a:pPr algn="r">
              <a:defRPr b="1" sz="1200">
                <a:solidFill>
                  <a:srgbClr val="102A5E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47548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spcAft>
                <a:spcPts val="800"/>
              </a:spcAft>
              <a:defRPr b="1" sz="1400">
                <a:solidFill>
                  <a:srgbClr val="0F172A"/>
                </a:solidFill>
              </a:defRPr>
            </a:pPr>
            <a:r>
              <a:t>• Technologies to be Used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2A5E"/>
                </a:solidFill>
              </a:rPr>
              <a:t>Mobile Client: </a:t>
            </a:r>
            <a:r>
              <a:rPr sz="900">
                <a:solidFill>
                  <a:srgbClr val="334155"/>
                </a:solidFill>
              </a:rPr>
              <a:t>React Native (Expo 50), TypeScript, CameraX HUD, Accelerometer Sensor API, Offline SQLite Queue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2A5E"/>
                </a:solidFill>
              </a:rPr>
              <a:t>Web Portal: </a:t>
            </a:r>
            <a:r>
              <a:rPr sz="900">
                <a:solidFill>
                  <a:srgbClr val="334155"/>
                </a:solidFill>
              </a:rPr>
              <a:t>React 18, Vite, TailwindCSS, TypeScript, Lucide Icons, Axios Client (JWT bearer auth)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2A5E"/>
                </a:solidFill>
              </a:rPr>
              <a:t>Backend Gateway: </a:t>
            </a:r>
            <a:r>
              <a:rPr sz="900">
                <a:solidFill>
                  <a:srgbClr val="334155"/>
                </a:solidFill>
              </a:rPr>
              <a:t>Python 3.11, FastAPI (ASGI async), Pydantic v2, SlowAPI rate-limiting, Structlog JSON logging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2A5E"/>
                </a:solidFill>
              </a:rPr>
              <a:t>Computer Vision: </a:t>
            </a:r>
            <a:r>
              <a:rPr sz="900">
                <a:solidFill>
                  <a:srgbClr val="334155"/>
                </a:solidFill>
              </a:rPr>
              <a:t>OpenCV (Laplacian blur Var &lt; 100, glare mask &gt; 5%, WCAG luminance contrast ratio &gt; 3.0)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2A5E"/>
                </a:solidFill>
              </a:rPr>
              <a:t>Optical Metrology: </a:t>
            </a:r>
            <a:r>
              <a:rPr sz="900">
                <a:solidFill>
                  <a:srgbClr val="334155"/>
                </a:solidFill>
              </a:rPr>
              <a:t>PyZbar (EAN-13 37.29mm optical calibration, sub-pixel scale factor S = 37.29 / W_px)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2A5E"/>
                </a:solidFill>
              </a:rPr>
              <a:t>OCR &amp; VLM Engine: </a:t>
            </a:r>
            <a:r>
              <a:rPr sz="900">
                <a:solidFill>
                  <a:srgbClr val="334155"/>
                </a:solidFill>
              </a:rPr>
              <a:t>PaddleOCR Bilingual (English + Hindi) + Google Gemini 1.5/2.5 Flash VLM fallback + Regex Entity Extractor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2A5E"/>
                </a:solidFill>
              </a:rPr>
              <a:t>Database &amp; Storage: </a:t>
            </a:r>
            <a:r>
              <a:rPr sz="900">
                <a:solidFill>
                  <a:srgbClr val="334155"/>
                </a:solidFill>
              </a:rPr>
              <a:t>PostgreSQL 16 (relational scans &amp; audit logs), MinIO / S3 content-addressed object store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2A5E"/>
                </a:solidFill>
              </a:rPr>
              <a:t>Notice Generation: </a:t>
            </a:r>
            <a:r>
              <a:rPr sz="900">
                <a:solidFill>
                  <a:srgbClr val="334155"/>
                </a:solidFill>
              </a:rPr>
              <a:t>Jinja2 template engine + WeasyPrint PDF/A with SHA-256 tamper-evident digital hashes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280160"/>
            <a:ext cx="60350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spcAft>
                <a:spcPts val="800"/>
              </a:spcAft>
              <a:defRPr b="1" sz="1400">
                <a:solidFill>
                  <a:srgbClr val="0F172A"/>
                </a:solidFill>
              </a:defRPr>
            </a:pPr>
            <a:r>
              <a:t>• Methodology &amp; Implementation Pipeline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Step 1: Multi-Source Ingestion: </a:t>
            </a:r>
            <a:r>
              <a:rPr sz="950">
                <a:solidFill>
                  <a:srgbClr val="334155"/>
                </a:solidFill>
              </a:rPr>
              <a:t>Captures package imagery via Mobile AR HUD, Web Bulk Upload, or E-Commerce Scraper. Computes immediate SHA-256 image fingerprint.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Step 2: Optical Metrology &amp; Quality Check: </a:t>
            </a:r>
            <a:r>
              <a:rPr sz="950">
                <a:solidFill>
                  <a:srgbClr val="334155"/>
                </a:solidFill>
              </a:rPr>
              <a:t>Evaluates blur/glare; PyZbar locates EAN-13 barcode. Calculates scale factor: S = 37.29mm / W_px. Measures numeral height: H_mm = H_px * 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Step 3: Hybrid Extraction &amp; Normalization: </a:t>
            </a:r>
            <a:r>
              <a:rPr sz="950">
                <a:solidFill>
                  <a:srgbClr val="334155"/>
                </a:solidFill>
              </a:rPr>
              <a:t>PaddleOCR extracts bilingual text; Gemini VLM handles degraded/curved packaging. Regex parses Net Qty, MRP, Mfg Date, Consumer Care.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Step 4: Statutory Rules Codification: </a:t>
            </a:r>
            <a:r>
              <a:rPr sz="950">
                <a:solidFill>
                  <a:srgbClr val="334155"/>
                </a:solidFill>
              </a:rPr>
              <a:t>Evaluates Rule 7(2) Table I (font height vs PDP area), Rule 6 (mandatory declarations), and Second Schedule (standard pack sizes).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Step 5: Confidence Gate &amp; Human Triage: </a:t>
            </a:r>
            <a:r>
              <a:rPr sz="950">
                <a:solidFill>
                  <a:srgbClr val="334155"/>
                </a:solidFill>
              </a:rPr>
              <a:t>Score &gt;= 85% triggers automated statutory determination; Score &lt; 85% routes scan to Officer Review Queue for judicial safety.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Step 6: Admissible Legal PDF Generation: </a:t>
            </a:r>
            <a:r>
              <a:rPr sz="950">
                <a:solidFill>
                  <a:srgbClr val="334155"/>
                </a:solidFill>
              </a:rPr>
              <a:t>Renders Form I Notice of Non-Compliance bearing officer badge, timestamp, bounding-box exhibits, and SHA-256 evidence chain.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0B981"/>
                </a:solidFill>
              </a:rPr>
              <a:t>PROTOTYPE STATUS: </a:t>
            </a:r>
            <a:r>
              <a:rPr sz="950">
                <a:solidFill>
                  <a:srgbClr val="334155"/>
                </a:solidFill>
              </a:rPr>
              <a:t>Fully functional &amp; cloud-deployed; 34/34 automated pytest tests passing; sub-4s latency verified.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74320"/>
            <a:ext cx="137160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The Null</a:t>
            </a:r>
          </a:p>
          <a:p>
            <a:pPr algn="ctr">
              <a:defRPr b="1" sz="1100">
                <a:solidFill>
                  <a:srgbClr val="0F172A"/>
                </a:solidFill>
              </a:defRPr>
            </a:pPr>
            <a:r>
              <a:t>Pointers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102A5E"/>
                </a:solidFill>
              </a:defRPr>
            </a:pPr>
            <a:r>
              <a:t>SMART INDIA</a:t>
            </a:r>
          </a:p>
          <a:p>
            <a:pPr algn="r">
              <a:defRPr b="1" sz="1200">
                <a:solidFill>
                  <a:srgbClr val="102A5E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spcAft>
                <a:spcPts val="800"/>
              </a:spcAft>
              <a:defRPr b="1" sz="1400">
                <a:solidFill>
                  <a:srgbClr val="0F172A"/>
                </a:solidFill>
              </a:defRPr>
            </a:pPr>
            <a:r>
              <a:t>• Analysis of Feasibility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2A5E"/>
                </a:solidFill>
              </a:rPr>
              <a:t>Zero Hardware Capex: </a:t>
            </a:r>
            <a:r>
              <a:rPr sz="1000">
                <a:solidFill>
                  <a:srgbClr val="334155"/>
                </a:solidFill>
              </a:rPr>
              <a:t>Runs on any existing Android/iOS smartphone owned by state inspectors; eliminates costly specialized optical calipers.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2A5E"/>
                </a:solidFill>
              </a:rPr>
              <a:t>Economic Viability: </a:t>
            </a:r>
            <a:r>
              <a:rPr sz="1000">
                <a:solidFill>
                  <a:srgbClr val="334155"/>
                </a:solidFill>
              </a:rPr>
              <a:t>Built on 100% open-source foundation (Python, PostgreSQL, React). Cloud compute cost is &lt; ₹0.20 per raid inspection.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2A5E"/>
                </a:solidFill>
              </a:rPr>
              <a:t>Legal Feasibility: </a:t>
            </a:r>
            <a:r>
              <a:rPr sz="1000">
                <a:solidFill>
                  <a:srgbClr val="334155"/>
                </a:solidFill>
              </a:rPr>
              <a:t>Engineered under Section 65B of Indian Evidence Act / Bharatiya Sakshya Adhiniyam, 2023 with cryptographic SHA-256 custody.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2A5E"/>
                </a:solidFill>
              </a:rPr>
              <a:t>Operational Scalability: </a:t>
            </a:r>
            <a:r>
              <a:rPr sz="1000">
                <a:solidFill>
                  <a:srgbClr val="334155"/>
                </a:solidFill>
              </a:rPr>
              <a:t>Stateless FastAPI microservices horizontally scale across 28 states &amp; 8 UTs on cloud container clusters.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2A5E"/>
                </a:solidFill>
              </a:rPr>
              <a:t>Immediate Department Utility: </a:t>
            </a:r>
            <a:r>
              <a:rPr sz="1000">
                <a:solidFill>
                  <a:srgbClr val="334155"/>
                </a:solidFill>
              </a:rPr>
              <a:t>Direct drop-in utility for retail raids, customs import clearances, and e-commerce compliance cells.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spcAft>
                <a:spcPts val="800"/>
              </a:spcAft>
              <a:defRPr b="1" sz="1400">
                <a:solidFill>
                  <a:srgbClr val="0F172A"/>
                </a:solidFill>
              </a:defRPr>
            </a:pPr>
            <a:r>
              <a:t>• Potential Challenges &amp; Risks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DC2626"/>
                </a:solidFill>
              </a:rPr>
              <a:t>Cylindrical Packaging Curvature: </a:t>
            </a:r>
            <a:r>
              <a:rPr sz="1000">
                <a:solidFill>
                  <a:srgbClr val="334155"/>
                </a:solidFill>
              </a:rPr>
              <a:t>Bottles, cans, and deformable pouches cause perspective distortion of text and barcode widths.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DC2626"/>
                </a:solidFill>
              </a:rPr>
              <a:t>Reflective Metallic Glare: </a:t>
            </a:r>
            <a:r>
              <a:rPr sz="1000">
                <a:solidFill>
                  <a:srgbClr val="334155"/>
                </a:solidFill>
              </a:rPr>
              <a:t>Shiny foil laminates in wholesale markets cause specular reflections that obscure numerals.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DC2626"/>
                </a:solidFill>
              </a:rPr>
              <a:t>Network Blackouts: </a:t>
            </a:r>
            <a:r>
              <a:rPr sz="1000">
                <a:solidFill>
                  <a:srgbClr val="334155"/>
                </a:solidFill>
              </a:rPr>
              <a:t>Field inspections in basement godowns or rural mandis lack active 4G/5G mobile data connectivity.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DC2626"/>
                </a:solidFill>
              </a:rPr>
              <a:t>Adversarial Formatting: </a:t>
            </a:r>
            <a:r>
              <a:rPr sz="1000">
                <a:solidFill>
                  <a:srgbClr val="334155"/>
                </a:solidFill>
              </a:rPr>
              <a:t>Manufacturers deliberately using stylized scripts, poor background contrast, or hidden declarations.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DC2626"/>
                </a:solidFill>
              </a:rPr>
              <a:t>Judicial Scrutiny: </a:t>
            </a:r>
            <a:r>
              <a:rPr sz="1000">
                <a:solidFill>
                  <a:srgbClr val="334155"/>
                </a:solidFill>
              </a:rPr>
              <a:t>Consumer courts demanding unassailable proof of measurement precision.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474720" cy="50292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spcAft>
                <a:spcPts val="800"/>
              </a:spcAft>
              <a:defRPr b="1" sz="1400">
                <a:solidFill>
                  <a:srgbClr val="0F172A"/>
                </a:solidFill>
              </a:defRPr>
            </a:pPr>
            <a:r>
              <a:t>• Strategies for Overcoming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B981"/>
                </a:solidFill>
              </a:rPr>
              <a:t>Cylindrical Unwrapping: </a:t>
            </a:r>
            <a:r>
              <a:rPr sz="1000">
                <a:solidFill>
                  <a:srgbClr val="334155"/>
                </a:solidFill>
              </a:rPr>
              <a:t>Perspective transformation and cylindrical surface unrolling algorithms normalize curved coordinates.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B981"/>
                </a:solidFill>
              </a:rPr>
              <a:t>CLAHE &amp; Glare Rejection: </a:t>
            </a:r>
            <a:r>
              <a:rPr sz="1000">
                <a:solidFill>
                  <a:srgbClr val="334155"/>
                </a:solidFill>
              </a:rPr>
              <a:t>OpenCV specular glare mask rejects highlights &gt;5% and applies adaptive histogram equalization.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B981"/>
                </a:solidFill>
              </a:rPr>
              <a:t>Encrypted Offline Queue: </a:t>
            </a:r>
            <a:r>
              <a:rPr sz="1000">
                <a:solidFill>
                  <a:srgbClr val="334155"/>
                </a:solidFill>
              </a:rPr>
              <a:t>Local SQLite/AsyncStorage caches scans offline and automatically syncs when network returns.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B981"/>
                </a:solidFill>
              </a:rPr>
              <a:t>Dual OCR + VLM Pipeline: </a:t>
            </a:r>
            <a:r>
              <a:rPr sz="1000">
                <a:solidFill>
                  <a:srgbClr val="334155"/>
                </a:solidFill>
              </a:rPr>
              <a:t>PaddleOCR handles structured text; Gemini VLM acts as fallback for stylized, folded, or multilingual labels.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B981"/>
                </a:solidFill>
              </a:rPr>
              <a:t>Human-in-the-Loop Triage: </a:t>
            </a:r>
            <a:r>
              <a:rPr sz="1000">
                <a:solidFill>
                  <a:srgbClr val="334155"/>
                </a:solidFill>
              </a:rPr>
              <a:t>Mandatory supervisory officer adjudication for any scan with extraction confidence &lt; 85%.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74320"/>
            <a:ext cx="137160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The Null</a:t>
            </a:r>
          </a:p>
          <a:p>
            <a:pPr algn="ctr">
              <a:defRPr b="1" sz="1100">
                <a:solidFill>
                  <a:srgbClr val="0F172A"/>
                </a:solidFill>
              </a:defRPr>
            </a:pPr>
            <a:r>
              <a:t>Pointers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102A5E"/>
                </a:solidFill>
              </a:defRPr>
            </a:pPr>
            <a:r>
              <a:t>SMART INDIA</a:t>
            </a:r>
          </a:p>
          <a:p>
            <a:pPr algn="r">
              <a:defRPr b="1" sz="1200">
                <a:solidFill>
                  <a:srgbClr val="102A5E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000"/>
              </a:spcAft>
              <a:defRPr b="1" sz="1400">
                <a:solidFill>
                  <a:srgbClr val="0F172A"/>
                </a:solidFill>
              </a:defRPr>
            </a:pPr>
            <a:r>
              <a:t>• Potential Impact on Target Audience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02A5E"/>
                </a:solidFill>
              </a:rPr>
              <a:t>Legal Metrology Field Inspectors: </a:t>
            </a:r>
            <a:r>
              <a:rPr sz="1000">
                <a:solidFill>
                  <a:srgbClr val="334155"/>
                </a:solidFill>
              </a:rPr>
              <a:t>Reduces field inspection time from 15-20 minutes to under 4 seconds per commodity, increasing raid coverage by 10x-15x.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02A5E"/>
                </a:solidFill>
              </a:rPr>
              <a:t>Department of Consumer Affairs: </a:t>
            </a:r>
            <a:r>
              <a:rPr sz="1000">
                <a:solidFill>
                  <a:srgbClr val="334155"/>
                </a:solidFill>
              </a:rPr>
              <a:t>Enables national centralized oversight across 28 states with real-time heatmaps of habitual non-compliant brands and violations.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02A5E"/>
                </a:solidFill>
              </a:rPr>
              <a:t>1.4 Billion Indian Consumers: </a:t>
            </a:r>
            <a:r>
              <a:rPr sz="1000">
                <a:solidFill>
                  <a:srgbClr val="334155"/>
                </a:solidFill>
              </a:rPr>
              <a:t>Protects citizens against deceptive undersizing ('shrinkflation'), missing manufacturer origins, expired batches, and hidden tax surcharges.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02A5E"/>
                </a:solidFill>
              </a:rPr>
              <a:t>E-Commerce Marketplaces: </a:t>
            </a:r>
            <a:r>
              <a:rPr sz="1000">
                <a:solidFill>
                  <a:srgbClr val="334155"/>
                </a:solidFill>
              </a:rPr>
              <a:t>Automated crawler assists platforms in auditing 3rd-party sellers before onboarding, ensuring statutory compliance.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02A5E"/>
                </a:solidFill>
              </a:rPr>
              <a:t>Honest FMCG Manufacturers: </a:t>
            </a:r>
            <a:r>
              <a:rPr sz="1000">
                <a:solidFill>
                  <a:srgbClr val="334155"/>
                </a:solidFill>
              </a:rPr>
              <a:t>Creates a fair, transparent, and standardized compliance ecosystem free from arbitrary officer subjectivity.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000"/>
              </a:spcAft>
              <a:defRPr b="1" sz="1400">
                <a:solidFill>
                  <a:srgbClr val="0F172A"/>
                </a:solidFill>
              </a:defRPr>
            </a:pPr>
            <a:r>
              <a:t>• Multi-Dimensional Benefits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0F172A"/>
                </a:solidFill>
              </a:rPr>
              <a:t>❖ Economic Benefits</a:t>
            </a:r>
          </a:p>
          <a:p>
            <a:pPr lvl="1">
              <a:spcAft>
                <a:spcPts val="400"/>
              </a:spcAft>
            </a:pPr>
            <a:r>
              <a:rPr b="1" sz="1000">
                <a:solidFill>
                  <a:srgbClr val="102A5E"/>
                </a:solidFill>
              </a:rPr>
              <a:t>Revenue Recovery: </a:t>
            </a:r>
            <a:r>
              <a:rPr sz="950">
                <a:solidFill>
                  <a:srgbClr val="334155"/>
                </a:solidFill>
              </a:rPr>
              <a:t>Recovers crores of rupees in compounding fees and penalties from non-compliant FMCG packaging.</a:t>
            </a:r>
          </a:p>
          <a:p>
            <a:pPr lvl="1">
              <a:spcAft>
                <a:spcPts val="400"/>
              </a:spcAft>
            </a:pPr>
            <a:r>
              <a:rPr b="1" sz="1000">
                <a:solidFill>
                  <a:srgbClr val="102A5E"/>
                </a:solidFill>
              </a:rPr>
              <a:t>Consumer Savings: </a:t>
            </a:r>
            <a:r>
              <a:rPr sz="950">
                <a:solidFill>
                  <a:srgbClr val="334155"/>
                </a:solidFill>
              </a:rPr>
              <a:t>Prevents quiet 10-15% quantity reductions (stealth shrinkflation) by enforcing Second Schedule sizes.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0F172A"/>
                </a:solidFill>
              </a:rPr>
              <a:t>❖ Social &amp; Public Health Benefits</a:t>
            </a:r>
          </a:p>
          <a:p>
            <a:pPr lvl="1">
              <a:spcAft>
                <a:spcPts val="400"/>
              </a:spcAft>
            </a:pPr>
            <a:r>
              <a:rPr b="1" sz="1000">
                <a:solidFill>
                  <a:srgbClr val="102A5E"/>
                </a:solidFill>
              </a:rPr>
              <a:t>Consumer Safety: </a:t>
            </a:r>
            <a:r>
              <a:rPr sz="950">
                <a:solidFill>
                  <a:srgbClr val="334155"/>
                </a:solidFill>
              </a:rPr>
              <a:t>Guarantees mandatory visibility of expiry dates, allergen warnings, and customer care contacts on baby food and medicines.</a:t>
            </a:r>
          </a:p>
          <a:p>
            <a:pPr lvl="1">
              <a:spcAft>
                <a:spcPts val="400"/>
              </a:spcAft>
            </a:pPr>
            <a:r>
              <a:rPr b="1" sz="1000">
                <a:solidFill>
                  <a:srgbClr val="102A5E"/>
                </a:solidFill>
              </a:rPr>
              <a:t>Legal Empowerment: </a:t>
            </a:r>
            <a:r>
              <a:rPr sz="950">
                <a:solidFill>
                  <a:srgbClr val="334155"/>
                </a:solidFill>
              </a:rPr>
              <a:t>Evidence-grade PDF notices empower consumer forums to adjudicate disputes swiftly without ambiguity.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0F172A"/>
                </a:solidFill>
              </a:rPr>
              <a:t>❖ Environmental &amp; Governance Benefits</a:t>
            </a:r>
          </a:p>
          <a:p>
            <a:pPr lvl="1">
              <a:spcAft>
                <a:spcPts val="400"/>
              </a:spcAft>
            </a:pPr>
            <a:r>
              <a:rPr b="1" sz="1000">
                <a:solidFill>
                  <a:srgbClr val="102A5E"/>
                </a:solidFill>
              </a:rPr>
              <a:t>100% Paperless Enforcement: </a:t>
            </a:r>
            <a:r>
              <a:rPr sz="950">
                <a:solidFill>
                  <a:srgbClr val="334155"/>
                </a:solidFill>
              </a:rPr>
              <a:t>Eliminates physical seizure ledgers, carbon-copy notices, and paper case dockets.</a:t>
            </a:r>
          </a:p>
          <a:p>
            <a:pPr lvl="1">
              <a:spcAft>
                <a:spcPts val="400"/>
              </a:spcAft>
            </a:pPr>
            <a:r>
              <a:rPr b="1" sz="1000">
                <a:solidFill>
                  <a:srgbClr val="102A5E"/>
                </a:solidFill>
              </a:rPr>
              <a:t>Transparent E-Governance: </a:t>
            </a:r>
            <a:r>
              <a:rPr sz="950">
                <a:solidFill>
                  <a:srgbClr val="334155"/>
                </a:solidFill>
              </a:rPr>
              <a:t>Immutable cryptographic hash logs eradicate bribery, tampering, and record suppression.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74320"/>
            <a:ext cx="137160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The Null</a:t>
            </a:r>
          </a:p>
          <a:p>
            <a:pPr algn="ctr">
              <a:defRPr b="1" sz="1100">
                <a:solidFill>
                  <a:srgbClr val="0F172A"/>
                </a:solidFill>
              </a:defRPr>
            </a:pPr>
            <a:r>
              <a:t>Pointers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102A5E"/>
                </a:solidFill>
              </a:defRPr>
            </a:pPr>
            <a:r>
              <a:t>SMART INDIA</a:t>
            </a:r>
          </a:p>
          <a:p>
            <a:pPr algn="r">
              <a:defRPr b="1" sz="1200">
                <a:solidFill>
                  <a:srgbClr val="102A5E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000"/>
              </a:spcAft>
              <a:defRPr b="1" sz="1400">
                <a:solidFill>
                  <a:srgbClr val="0F172A"/>
                </a:solidFill>
              </a:defRPr>
            </a:pPr>
            <a:r>
              <a:t>• Statutory &amp; Legal References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02A5E"/>
                </a:solidFill>
              </a:rPr>
              <a:t>1. Legal Metrology Act, 2009 (Act No. 1 of 2010): </a:t>
            </a:r>
            <a:r>
              <a:rPr sz="950">
                <a:solidFill>
                  <a:srgbClr val="334155"/>
                </a:solidFill>
              </a:rPr>
              <a:t>Ministry of Consumer Affairs, Food &amp; Public Distribution, Government of India. Mandates standard units of weight and measures.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02A5E"/>
                </a:solidFill>
              </a:rPr>
              <a:t>2. Legal Metrology (Packaged Commodities) Rules, 2011: </a:t>
            </a:r>
            <a:r>
              <a:rPr sz="950">
                <a:solidFill>
                  <a:srgbClr val="334155"/>
                </a:solidFill>
              </a:rPr>
              <a:t>G.S.R. 202(E) amended up to 2022. Specific codification of Rule 6 (Mandatory Declarations), Rule 7(2) Table I &amp; II (Numeral Heights), and Rule 26 (Exemptions).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02A5E"/>
                </a:solidFill>
              </a:rPr>
              <a:t>3. Second Schedule of LMPC Rules, 2011: </a:t>
            </a:r>
            <a:r>
              <a:rPr sz="950">
                <a:solidFill>
                  <a:srgbClr val="334155"/>
                </a:solidFill>
              </a:rPr>
              <a:t>Permissible standardized commodity packaging quantities for foodstuff, personal care, and lubricants.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02A5E"/>
                </a:solidFill>
              </a:rPr>
              <a:t>4. Section 65B, Indian Evidence Act, 1872 / BSA 2023: </a:t>
            </a:r>
            <a:r>
              <a:rPr sz="950">
                <a:solidFill>
                  <a:srgbClr val="334155"/>
                </a:solidFill>
              </a:rPr>
              <a:t>Special provisions as to evidence relating to electronic record, tamper-evident hash validation, and officer certification.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02A5E"/>
                </a:solidFill>
              </a:rPr>
              <a:t>5. Consumer Protection (E-Commerce) Rules, 2020: </a:t>
            </a:r>
            <a:r>
              <a:rPr sz="950">
                <a:solidFill>
                  <a:srgbClr val="334155"/>
                </a:solidFill>
              </a:rPr>
              <a:t>Mandatory display of country of origin, MRP, and net quantity on e-commerce platforms.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000"/>
              </a:spcAft>
              <a:defRPr b="1" sz="1400">
                <a:solidFill>
                  <a:srgbClr val="0F172A"/>
                </a:solidFill>
              </a:defRPr>
            </a:pPr>
            <a:r>
              <a:t>• Technical Standards &amp; Project Links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1. GS1 General Specifications (Release 23.0): </a:t>
            </a:r>
            <a:r>
              <a:rPr sz="950">
                <a:solidFill>
                  <a:srgbClr val="334155"/>
                </a:solidFill>
              </a:rPr>
              <a:t>Section 5.2.1: EAN-13 Barcode Symbol Specifications. Establishes the universal nominal width standard (W = 37.29 mm).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2. ISO/IEC 15420:2009 Standard: </a:t>
            </a:r>
            <a:r>
              <a:rPr sz="950">
                <a:solidFill>
                  <a:srgbClr val="334155"/>
                </a:solidFill>
              </a:rPr>
              <a:t>Information technology — Automatic identification and data capture techniques — EAN/UPC bar code symbology specification.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3. Du, Y., et al. (2020) 'PP-OCR: A Practical Ultra Lightweight OCR System': </a:t>
            </a:r>
            <a:r>
              <a:rPr sz="950">
                <a:solidFill>
                  <a:srgbClr val="334155"/>
                </a:solidFill>
              </a:rPr>
              <a:t>arXiv:2009.09941. Bilingual text detection and recognition methodology.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4. W3C WCAG 2.1 Contrast Standards: </a:t>
            </a:r>
            <a:r>
              <a:rPr sz="950">
                <a:solidFill>
                  <a:srgbClr val="334155"/>
                </a:solidFill>
              </a:rPr>
              <a:t>Luminance contrast ratio formulation for statutory declaration legibility.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5. Live Project GitHub Repository: </a:t>
            </a:r>
            <a:r>
              <a:rPr sz="950">
                <a:solidFill>
                  <a:srgbClr val="334155"/>
                </a:solidFill>
              </a:rPr>
              <a:t>https://github.com/Debddj/Pramaan
Includes complete tested codebase (FastAPI, React Native, Vite Dashboard, 34 automated unit tests, and 1-click cloud deployment specs).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